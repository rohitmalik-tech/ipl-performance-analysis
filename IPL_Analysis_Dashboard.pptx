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72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8394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C1E45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C8202F"/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389120"/>
            <a:ext cx="5029200" cy="5029200"/>
          </a:xfrm>
          <a:prstGeom prst="ellipse">
            <a:avLst/>
          </a:prstGeom>
          <a:solidFill>
            <a:srgbClr val="E7A72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E7A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IPL Analysis Dashboard</a:t>
            </a:r>
            <a:endParaRPr lang="en-US" sz="4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Power BI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58368" y="37033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7D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Season-wise Analysis of the Indian Premier League (2008–2025)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8368" y="47548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E7A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50474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Malik Rohit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93008" y="47548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E7A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93008" y="50474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27648" y="47548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E7A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27648" y="50474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Project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8368" y="5806440"/>
            <a:ext cx="82296" cy="82296"/>
          </a:xfrm>
          <a:prstGeom prst="ellipse">
            <a:avLst/>
          </a:prstGeom>
          <a:solidFill>
            <a:srgbClr val="E7A722"/>
          </a:solidFill>
          <a:ln/>
        </p:spPr>
      </p:sp>
      <p:sp>
        <p:nvSpPr>
          <p:cNvPr id="15" name="Text 13"/>
          <p:cNvSpPr/>
          <p:nvPr/>
        </p:nvSpPr>
        <p:spPr>
          <a:xfrm>
            <a:off x="283464" y="558283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2008 – 2025  |  18 Seasons of Data</a:t>
            </a:r>
            <a:endParaRPr lang="en-US" sz="11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7A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&amp; Goals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 of this project is to analyze IPL data from 2008–2025 and build an interactive Power BI dashboard that provides insights into team performance, player achievements, and tournament statistics.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502920" cy="502920"/>
          </a:xfrm>
          <a:prstGeom prst="ellipse">
            <a:avLst/>
          </a:prstGeom>
          <a:solidFill>
            <a:srgbClr val="132A5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" y="292150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278892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season-wise IPL performance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3502152"/>
            <a:ext cx="502920" cy="502920"/>
          </a:xfrm>
          <a:prstGeom prst="ellipse">
            <a:avLst/>
          </a:prstGeom>
          <a:solidFill>
            <a:srgbClr val="132A5E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" y="3634740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3502152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champions and runners-up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48640" y="4215384"/>
            <a:ext cx="502920" cy="502920"/>
          </a:xfrm>
          <a:prstGeom prst="ellipse">
            <a:avLst/>
          </a:prstGeom>
          <a:solidFill>
            <a:srgbClr val="132A5E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" y="4347972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4215384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batting and bowling statistics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548640" y="4928616"/>
            <a:ext cx="502920" cy="502920"/>
          </a:xfrm>
          <a:prstGeom prst="ellipse">
            <a:avLst/>
          </a:prstGeom>
          <a:solidFill>
            <a:srgbClr val="132A5E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228" y="5061204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34440" y="4928616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team performances across seasons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548640" y="5641848"/>
            <a:ext cx="502920" cy="502920"/>
          </a:xfrm>
          <a:prstGeom prst="ellipse">
            <a:avLst/>
          </a:prstGeom>
          <a:solidFill>
            <a:srgbClr val="132A5E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228" y="5774436"/>
            <a:ext cx="237744" cy="23774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34440" y="5641848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interactive dashboard for data-driven insights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7A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 Used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514600" cy="310896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32A5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94460" y="2468880"/>
            <a:ext cx="822960" cy="822960"/>
          </a:xfrm>
          <a:prstGeom prst="ellipse">
            <a:avLst/>
          </a:prstGeom>
          <a:solidFill>
            <a:srgbClr val="132A5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4772" y="2670048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5204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402336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and Storage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55848" y="2103120"/>
            <a:ext cx="2514600" cy="310896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32A5E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01668" y="2468880"/>
            <a:ext cx="822960" cy="822960"/>
          </a:xfrm>
          <a:prstGeom prst="ellipse">
            <a:avLst/>
          </a:prstGeom>
          <a:solidFill>
            <a:srgbClr val="132A5E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1980" y="2670048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93008" y="35204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Query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538728" y="402336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and Transformation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63056" y="2103120"/>
            <a:ext cx="2514600" cy="310896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32A5E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08876" y="2468880"/>
            <a:ext cx="822960" cy="822960"/>
          </a:xfrm>
          <a:prstGeom prst="ellipse">
            <a:avLst/>
          </a:prstGeom>
          <a:solidFill>
            <a:srgbClr val="132A5E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9188" y="2670048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0216" y="35204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6345936" y="402336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and Dashboard Creation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970264" y="2103120"/>
            <a:ext cx="2514600" cy="310896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32A5E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816084" y="2468880"/>
            <a:ext cx="822960" cy="822960"/>
          </a:xfrm>
          <a:prstGeom prst="ellipse">
            <a:avLst/>
          </a:prstGeom>
          <a:solidFill>
            <a:srgbClr val="132A5E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26396" y="2670048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07424" y="35204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DAX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9153144" y="402336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and Measure Calculations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7A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Information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contains IPL data from 2008–2025, including: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2542032" cy="1600200"/>
          </a:xfrm>
          <a:prstGeom prst="roundRect">
            <a:avLst>
              <a:gd name="adj" fmla="val 4571"/>
            </a:avLst>
          </a:prstGeom>
          <a:solidFill>
            <a:srgbClr val="F4F6FB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2441448"/>
            <a:ext cx="457200" cy="457200"/>
          </a:xfrm>
          <a:prstGeom prst="ellipse">
            <a:avLst/>
          </a:prstGeom>
          <a:solidFill>
            <a:srgbClr val="132A5E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2551176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017520"/>
            <a:ext cx="21762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and Seasons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346704" y="2240280"/>
            <a:ext cx="2542032" cy="1600200"/>
          </a:xfrm>
          <a:prstGeom prst="roundRect">
            <a:avLst>
              <a:gd name="adj" fmla="val 4571"/>
            </a:avLst>
          </a:prstGeom>
          <a:solidFill>
            <a:srgbClr val="F4F6FB"/>
          </a:solidFill>
          <a:ln/>
        </p:spPr>
      </p:sp>
      <p:sp>
        <p:nvSpPr>
          <p:cNvPr id="10" name="Shape 7"/>
          <p:cNvSpPr/>
          <p:nvPr/>
        </p:nvSpPr>
        <p:spPr>
          <a:xfrm>
            <a:off x="3547872" y="2441448"/>
            <a:ext cx="457200" cy="457200"/>
          </a:xfrm>
          <a:prstGeom prst="ellipse">
            <a:avLst/>
          </a:prstGeom>
          <a:solidFill>
            <a:srgbClr val="132A5E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2551176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9584" y="3017520"/>
            <a:ext cx="21762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Results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144768" y="2240280"/>
            <a:ext cx="2542032" cy="1600200"/>
          </a:xfrm>
          <a:prstGeom prst="roundRect">
            <a:avLst>
              <a:gd name="adj" fmla="val 4571"/>
            </a:avLst>
          </a:prstGeom>
          <a:solidFill>
            <a:srgbClr val="F4F6FB"/>
          </a:solidFill>
          <a:ln/>
        </p:spPr>
      </p:sp>
      <p:sp>
        <p:nvSpPr>
          <p:cNvPr id="14" name="Shape 10"/>
          <p:cNvSpPr/>
          <p:nvPr/>
        </p:nvSpPr>
        <p:spPr>
          <a:xfrm>
            <a:off x="6345936" y="2441448"/>
            <a:ext cx="457200" cy="457200"/>
          </a:xfrm>
          <a:prstGeom prst="ellipse">
            <a:avLst/>
          </a:prstGeom>
          <a:solidFill>
            <a:srgbClr val="132A5E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5664" y="2551176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27648" y="3017520"/>
            <a:ext cx="21762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Venues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8942832" y="2240280"/>
            <a:ext cx="2542032" cy="1600200"/>
          </a:xfrm>
          <a:prstGeom prst="roundRect">
            <a:avLst>
              <a:gd name="adj" fmla="val 4571"/>
            </a:avLst>
          </a:prstGeom>
          <a:solidFill>
            <a:srgbClr val="F4F6FB"/>
          </a:solidFill>
          <a:ln/>
        </p:spPr>
      </p:sp>
      <p:sp>
        <p:nvSpPr>
          <p:cNvPr id="18" name="Shape 13"/>
          <p:cNvSpPr/>
          <p:nvPr/>
        </p:nvSpPr>
        <p:spPr>
          <a:xfrm>
            <a:off x="9144000" y="2441448"/>
            <a:ext cx="457200" cy="457200"/>
          </a:xfrm>
          <a:prstGeom prst="ellipse">
            <a:avLst/>
          </a:prstGeom>
          <a:solidFill>
            <a:srgbClr val="132A5E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3728" y="2551176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125712" y="3017520"/>
            <a:ext cx="21762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Statistics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548640" y="4114800"/>
            <a:ext cx="2542032" cy="1600200"/>
          </a:xfrm>
          <a:prstGeom prst="roundRect">
            <a:avLst>
              <a:gd name="adj" fmla="val 4571"/>
            </a:avLst>
          </a:prstGeom>
          <a:solidFill>
            <a:srgbClr val="F4F6FB"/>
          </a:solidFill>
          <a:ln/>
        </p:spPr>
      </p:sp>
      <p:sp>
        <p:nvSpPr>
          <p:cNvPr id="22" name="Shape 16"/>
          <p:cNvSpPr/>
          <p:nvPr/>
        </p:nvSpPr>
        <p:spPr>
          <a:xfrm>
            <a:off x="749808" y="4315968"/>
            <a:ext cx="457200" cy="457200"/>
          </a:xfrm>
          <a:prstGeom prst="ellipse">
            <a:avLst/>
          </a:prstGeom>
          <a:solidFill>
            <a:srgbClr val="132A5E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536" y="4425696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31520" y="4892040"/>
            <a:ext cx="21762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Batting Performance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3346704" y="4114800"/>
            <a:ext cx="2542032" cy="1600200"/>
          </a:xfrm>
          <a:prstGeom prst="roundRect">
            <a:avLst>
              <a:gd name="adj" fmla="val 4571"/>
            </a:avLst>
          </a:prstGeom>
          <a:solidFill>
            <a:srgbClr val="F4F6FB"/>
          </a:solidFill>
          <a:ln/>
        </p:spPr>
      </p:sp>
      <p:sp>
        <p:nvSpPr>
          <p:cNvPr id="26" name="Shape 19"/>
          <p:cNvSpPr/>
          <p:nvPr/>
        </p:nvSpPr>
        <p:spPr>
          <a:xfrm>
            <a:off x="3547872" y="4315968"/>
            <a:ext cx="457200" cy="457200"/>
          </a:xfrm>
          <a:prstGeom prst="ellipse">
            <a:avLst/>
          </a:prstGeom>
          <a:solidFill>
            <a:srgbClr val="132A5E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4425696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529584" y="4892040"/>
            <a:ext cx="21762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Bowling Performance</a:t>
            </a:r>
            <a:endParaRPr lang="en-US" sz="1250" dirty="0"/>
          </a:p>
        </p:txBody>
      </p:sp>
      <p:sp>
        <p:nvSpPr>
          <p:cNvPr id="29" name="Shape 21"/>
          <p:cNvSpPr/>
          <p:nvPr/>
        </p:nvSpPr>
        <p:spPr>
          <a:xfrm>
            <a:off x="6144768" y="4114800"/>
            <a:ext cx="2542032" cy="1600200"/>
          </a:xfrm>
          <a:prstGeom prst="roundRect">
            <a:avLst>
              <a:gd name="adj" fmla="val 4571"/>
            </a:avLst>
          </a:prstGeom>
          <a:solidFill>
            <a:srgbClr val="F4F6FB"/>
          </a:solidFill>
          <a:ln/>
        </p:spPr>
      </p:sp>
      <p:sp>
        <p:nvSpPr>
          <p:cNvPr id="30" name="Shape 22"/>
          <p:cNvSpPr/>
          <p:nvPr/>
        </p:nvSpPr>
        <p:spPr>
          <a:xfrm>
            <a:off x="6345936" y="4315968"/>
            <a:ext cx="457200" cy="457200"/>
          </a:xfrm>
          <a:prstGeom prst="ellipse">
            <a:avLst/>
          </a:prstGeom>
          <a:solidFill>
            <a:srgbClr val="132A5E"/>
          </a:solidFill>
          <a:ln/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5664" y="4425696"/>
            <a:ext cx="237744" cy="237744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327648" y="4892040"/>
            <a:ext cx="21762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Table Information</a:t>
            </a:r>
            <a:endParaRPr lang="en-US" sz="1250" dirty="0"/>
          </a:p>
        </p:txBody>
      </p:sp>
      <p:sp>
        <p:nvSpPr>
          <p:cNvPr id="33" name="Shape 24"/>
          <p:cNvSpPr/>
          <p:nvPr/>
        </p:nvSpPr>
        <p:spPr>
          <a:xfrm>
            <a:off x="8942832" y="4114800"/>
            <a:ext cx="2542032" cy="1600200"/>
          </a:xfrm>
          <a:prstGeom prst="roundRect">
            <a:avLst>
              <a:gd name="adj" fmla="val 4571"/>
            </a:avLst>
          </a:prstGeom>
          <a:solidFill>
            <a:srgbClr val="F4F6FB"/>
          </a:solidFill>
          <a:ln/>
        </p:spPr>
      </p:sp>
      <p:sp>
        <p:nvSpPr>
          <p:cNvPr id="34" name="Shape 25"/>
          <p:cNvSpPr/>
          <p:nvPr/>
        </p:nvSpPr>
        <p:spPr>
          <a:xfrm>
            <a:off x="9144000" y="4315968"/>
            <a:ext cx="457200" cy="457200"/>
          </a:xfrm>
          <a:prstGeom prst="ellipse">
            <a:avLst/>
          </a:prstGeom>
          <a:solidFill>
            <a:srgbClr val="132A5E"/>
          </a:solidFill>
          <a:ln/>
        </p:spPr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53728" y="4425696"/>
            <a:ext cx="237744" cy="237744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9125712" y="4892040"/>
            <a:ext cx="21762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Winners and Runners-up</a:t>
            </a:r>
            <a:endParaRPr lang="en-US" sz="1250" dirty="0"/>
          </a:p>
        </p:txBody>
      </p:sp>
      <p:sp>
        <p:nvSpPr>
          <p:cNvPr id="37" name="Text 27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2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7A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KPIS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Performance Indicators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7D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displays the following KPIs, which update dynamically based on the selected season.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0C1E45"/>
          </a:solidFill>
          <a:ln w="12700">
            <a:solidFill>
              <a:srgbClr val="2A3F7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63624" y="2532888"/>
            <a:ext cx="512064" cy="512064"/>
          </a:xfrm>
          <a:prstGeom prst="ellipse">
            <a:avLst/>
          </a:prstGeom>
          <a:solidFill>
            <a:srgbClr val="E7A722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784" y="2670048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154680"/>
            <a:ext cx="23591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Winner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346704" y="233172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0C1E45"/>
          </a:solidFill>
          <a:ln w="12700">
            <a:solidFill>
              <a:srgbClr val="2A3F7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61688" y="2532888"/>
            <a:ext cx="512064" cy="512064"/>
          </a:xfrm>
          <a:prstGeom prst="ellipse">
            <a:avLst/>
          </a:prstGeom>
          <a:solidFill>
            <a:srgbClr val="E7A72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848" y="267004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38144" y="3154680"/>
            <a:ext cx="23591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Runner-up Team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144768" y="233172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0C1E45"/>
          </a:solidFill>
          <a:ln w="12700">
            <a:solidFill>
              <a:srgbClr val="2A3F7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159752" y="2532888"/>
            <a:ext cx="512064" cy="512064"/>
          </a:xfrm>
          <a:prstGeom prst="ellipse">
            <a:avLst/>
          </a:prstGeom>
          <a:solidFill>
            <a:srgbClr val="E7A722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912" y="2670048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36208" y="3154680"/>
            <a:ext cx="23591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Matches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8942832" y="233172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0C1E45"/>
          </a:solidFill>
          <a:ln w="12700">
            <a:solidFill>
              <a:srgbClr val="2A3F72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9957816" y="2532888"/>
            <a:ext cx="512064" cy="512064"/>
          </a:xfrm>
          <a:prstGeom prst="ellipse">
            <a:avLst/>
          </a:prstGeom>
          <a:solidFill>
            <a:srgbClr val="E7A722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2670048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034272" y="3154680"/>
            <a:ext cx="23591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Fours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548640" y="402336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0C1E45"/>
          </a:solidFill>
          <a:ln w="12700">
            <a:solidFill>
              <a:srgbClr val="2A3F72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1563624" y="4224528"/>
            <a:ext cx="512064" cy="512064"/>
          </a:xfrm>
          <a:prstGeom prst="ellipse">
            <a:avLst/>
          </a:prstGeom>
          <a:solidFill>
            <a:srgbClr val="E7A722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784" y="4361688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40080" y="4846320"/>
            <a:ext cx="23591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Sixes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3346704" y="402336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0C1E45"/>
          </a:solidFill>
          <a:ln w="12700">
            <a:solidFill>
              <a:srgbClr val="2A3F72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361688" y="4224528"/>
            <a:ext cx="512064" cy="512064"/>
          </a:xfrm>
          <a:prstGeom prst="ellipse">
            <a:avLst/>
          </a:prstGeom>
          <a:solidFill>
            <a:srgbClr val="E7A722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848" y="4361688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438144" y="4846320"/>
            <a:ext cx="23591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Centuries</a:t>
            </a:r>
            <a:endParaRPr lang="en-US" sz="1250" dirty="0"/>
          </a:p>
        </p:txBody>
      </p:sp>
      <p:sp>
        <p:nvSpPr>
          <p:cNvPr id="29" name="Shape 21"/>
          <p:cNvSpPr/>
          <p:nvPr/>
        </p:nvSpPr>
        <p:spPr>
          <a:xfrm>
            <a:off x="6144768" y="402336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0C1E45"/>
          </a:solidFill>
          <a:ln w="12700">
            <a:solidFill>
              <a:srgbClr val="2A3F72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7159752" y="4224528"/>
            <a:ext cx="512064" cy="512064"/>
          </a:xfrm>
          <a:prstGeom prst="ellipse">
            <a:avLst/>
          </a:prstGeom>
          <a:solidFill>
            <a:srgbClr val="E7A722"/>
          </a:solidFill>
          <a:ln/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912" y="4361688"/>
            <a:ext cx="237744" cy="237744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236208" y="4846320"/>
            <a:ext cx="23591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Half-Centuries</a:t>
            </a:r>
            <a:endParaRPr lang="en-US" sz="1250" dirty="0"/>
          </a:p>
        </p:txBody>
      </p:sp>
      <p:sp>
        <p:nvSpPr>
          <p:cNvPr id="33" name="Shape 24"/>
          <p:cNvSpPr/>
          <p:nvPr/>
        </p:nvSpPr>
        <p:spPr>
          <a:xfrm>
            <a:off x="8942832" y="402336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0C1E45"/>
          </a:solidFill>
          <a:ln w="12700">
            <a:solidFill>
              <a:srgbClr val="2A3F72"/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9957816" y="4224528"/>
            <a:ext cx="512064" cy="512064"/>
          </a:xfrm>
          <a:prstGeom prst="ellipse">
            <a:avLst/>
          </a:prstGeom>
          <a:solidFill>
            <a:srgbClr val="E7A722"/>
          </a:solidFill>
          <a:ln/>
        </p:spPr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4361688"/>
            <a:ext cx="237744" cy="237744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9034272" y="4846320"/>
            <a:ext cx="23591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Venues</a:t>
            </a:r>
            <a:endParaRPr lang="en-US" sz="1250" dirty="0"/>
          </a:p>
        </p:txBody>
      </p:sp>
      <p:sp>
        <p:nvSpPr>
          <p:cNvPr id="37" name="Text 27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7A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INSIGHTS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Player Performance Analysis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provides detailed player performance insights through the following analyses: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F4F6FB"/>
          </a:solidFill>
          <a:ln/>
          <a:effectLst>
            <a:outerShdw blurRad="101600" dist="25400" dir="5400000" algn="bl" rotWithShape="0">
              <a:srgbClr val="132A5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468880"/>
            <a:ext cx="566928" cy="566928"/>
          </a:xfrm>
          <a:prstGeom prst="ellipse">
            <a:avLst/>
          </a:prstGeom>
          <a:solidFill>
            <a:srgbClr val="E7A722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60604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39572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Orange Cap Analysis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554480" y="2761488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the highest run scorer of the selected season.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72200" y="2194560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F4F6FB"/>
          </a:solidFill>
          <a:ln/>
          <a:effectLst>
            <a:outerShdw blurRad="101600" dist="25400" dir="5400000" algn="bl" rotWithShape="0">
              <a:srgbClr val="132A5E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46520" y="2468880"/>
            <a:ext cx="566928" cy="566928"/>
          </a:xfrm>
          <a:prstGeom prst="ellipse">
            <a:avLst/>
          </a:prstGeom>
          <a:solidFill>
            <a:srgbClr val="7B4397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60604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78040" y="239572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Purple Cap Analysis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178040" y="2761488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the highest wicket-taker of the selected season.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206240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F4F6FB"/>
          </a:solidFill>
          <a:ln/>
          <a:effectLst>
            <a:outerShdw blurRad="101600" dist="25400" dir="5400000" algn="bl" rotWithShape="0">
              <a:srgbClr val="132A5E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" y="4480560"/>
            <a:ext cx="566928" cy="566928"/>
          </a:xfrm>
          <a:prstGeom prst="ellipse">
            <a:avLst/>
          </a:prstGeom>
          <a:solidFill>
            <a:srgbClr val="C8202F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6177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440740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Boundary Analysis – Fours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554480" y="4773168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the player with the most fours in the season.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172200" y="4206240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F4F6FB"/>
          </a:solidFill>
          <a:ln/>
          <a:effectLst>
            <a:outerShdw blurRad="101600" dist="25400" dir="5400000" algn="bl" rotWithShape="0">
              <a:srgbClr val="132A5E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46520" y="4480560"/>
            <a:ext cx="566928" cy="566928"/>
          </a:xfrm>
          <a:prstGeom prst="ellipse">
            <a:avLst/>
          </a:prstGeom>
          <a:solidFill>
            <a:srgbClr val="132A5E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46177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78040" y="440740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Boundary Analysis – Sixes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178040" y="4773168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the player with the most sixes in the season.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7A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INSIGHTS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Performance Analysis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includes a detailed Points Table capturing every dimension of team performance: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691640" cy="310896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32A5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94560"/>
            <a:ext cx="1691640" cy="777240"/>
          </a:xfrm>
          <a:prstGeom prst="rect">
            <a:avLst/>
          </a:prstGeom>
          <a:solidFill>
            <a:srgbClr val="132A5E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19456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</a:t>
            </a:r>
            <a:endParaRPr lang="en-US" sz="11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Played (P)</a:t>
            </a:r>
            <a:endParaRPr lang="en-US" sz="11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292" y="3246120"/>
            <a:ext cx="402336" cy="4023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423160" y="2194560"/>
            <a:ext cx="1691640" cy="310896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32A5E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423160" y="2194560"/>
            <a:ext cx="1691640" cy="777240"/>
          </a:xfrm>
          <a:prstGeom prst="rect">
            <a:avLst/>
          </a:prstGeom>
          <a:solidFill>
            <a:srgbClr val="132A5E"/>
          </a:solidFill>
          <a:ln/>
        </p:spPr>
      </p:sp>
      <p:sp>
        <p:nvSpPr>
          <p:cNvPr id="11" name="Text 8"/>
          <p:cNvSpPr/>
          <p:nvPr/>
        </p:nvSpPr>
        <p:spPr>
          <a:xfrm>
            <a:off x="2468880" y="219456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</a:t>
            </a:r>
            <a:endParaRPr lang="en-US" sz="11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(W)</a:t>
            </a:r>
            <a:endParaRPr lang="en-US" sz="11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7812" y="3246120"/>
            <a:ext cx="402336" cy="40233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297680" y="2194560"/>
            <a:ext cx="1691640" cy="310896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32A5E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297680" y="2194560"/>
            <a:ext cx="1691640" cy="777240"/>
          </a:xfrm>
          <a:prstGeom prst="rect">
            <a:avLst/>
          </a:prstGeom>
          <a:solidFill>
            <a:srgbClr val="132A5E"/>
          </a:solidFill>
          <a:ln/>
        </p:spPr>
      </p:sp>
      <p:sp>
        <p:nvSpPr>
          <p:cNvPr id="15" name="Text 11"/>
          <p:cNvSpPr/>
          <p:nvPr/>
        </p:nvSpPr>
        <p:spPr>
          <a:xfrm>
            <a:off x="4343400" y="219456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Losses</a:t>
            </a:r>
            <a:endParaRPr lang="en-US" sz="11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(L)</a:t>
            </a:r>
            <a:endParaRPr lang="en-US" sz="115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2332" y="3246120"/>
            <a:ext cx="402336" cy="402336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172200" y="2194560"/>
            <a:ext cx="1691640" cy="310896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32A5E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172200" y="2194560"/>
            <a:ext cx="1691640" cy="777240"/>
          </a:xfrm>
          <a:prstGeom prst="rect">
            <a:avLst/>
          </a:prstGeom>
          <a:solidFill>
            <a:srgbClr val="132A5E"/>
          </a:solidFill>
          <a:ln/>
        </p:spPr>
      </p:sp>
      <p:sp>
        <p:nvSpPr>
          <p:cNvPr id="19" name="Text 14"/>
          <p:cNvSpPr/>
          <p:nvPr/>
        </p:nvSpPr>
        <p:spPr>
          <a:xfrm>
            <a:off x="6217920" y="219456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Run</a:t>
            </a:r>
            <a:endParaRPr lang="en-US" sz="11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(NRR)</a:t>
            </a:r>
            <a:endParaRPr lang="en-US" sz="115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6852" y="3246120"/>
            <a:ext cx="402336" cy="402336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8046720" y="2194560"/>
            <a:ext cx="1691640" cy="310896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32A5E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8046720" y="2194560"/>
            <a:ext cx="1691640" cy="777240"/>
          </a:xfrm>
          <a:prstGeom prst="rect">
            <a:avLst/>
          </a:prstGeom>
          <a:solidFill>
            <a:srgbClr val="132A5E"/>
          </a:solidFill>
          <a:ln/>
        </p:spPr>
      </p:sp>
      <p:sp>
        <p:nvSpPr>
          <p:cNvPr id="23" name="Text 17"/>
          <p:cNvSpPr/>
          <p:nvPr/>
        </p:nvSpPr>
        <p:spPr>
          <a:xfrm>
            <a:off x="8092440" y="219456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1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(PTS)</a:t>
            </a:r>
            <a:endParaRPr lang="en-US" sz="115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1372" y="3246120"/>
            <a:ext cx="402336" cy="402336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9921240" y="2194560"/>
            <a:ext cx="1691640" cy="310896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32A5E">
                <a:alpha val="10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9921240" y="2194560"/>
            <a:ext cx="1691640" cy="777240"/>
          </a:xfrm>
          <a:prstGeom prst="rect">
            <a:avLst/>
          </a:prstGeom>
          <a:solidFill>
            <a:srgbClr val="132A5E"/>
          </a:solidFill>
          <a:ln/>
        </p:spPr>
      </p:sp>
      <p:sp>
        <p:nvSpPr>
          <p:cNvPr id="27" name="Text 20"/>
          <p:cNvSpPr/>
          <p:nvPr/>
        </p:nvSpPr>
        <p:spPr>
          <a:xfrm>
            <a:off x="9966960" y="219456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Five</a:t>
            </a:r>
            <a:endParaRPr lang="en-US" sz="11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</a:t>
            </a:r>
            <a:endParaRPr lang="en-US" sz="115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5892" y="3246120"/>
            <a:ext cx="402336" cy="40233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48640" y="56235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structure helps compare team consistency, momentum, and season-long performance at a glance.</a:t>
            </a:r>
            <a:endParaRPr lang="en-US" sz="1350" dirty="0"/>
          </a:p>
        </p:txBody>
      </p:sp>
      <p:sp>
        <p:nvSpPr>
          <p:cNvPr id="30" name="Text 22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7A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Findings &amp; Data Trends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0136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7A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IPL Analysis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31520" y="2807208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Season-wise analysis of IPL tournaments from 2008–2025.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297680" y="169164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4F6FB"/>
          </a:solidFill>
          <a:ln/>
        </p:spPr>
      </p:sp>
      <p:sp>
        <p:nvSpPr>
          <p:cNvPr id="9" name="Text 7"/>
          <p:cNvSpPr/>
          <p:nvPr/>
        </p:nvSpPr>
        <p:spPr>
          <a:xfrm>
            <a:off x="4480560" y="180136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7A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480560" y="23774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Tournament KPIs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480560" y="2807208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Matches, fours, sixes, centuries and venues update dynamically per season.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8046720" y="169164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4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0" y="180136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7A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229600" y="23774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Batting Performance Insights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29600" y="2807208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Orange Cap winners, top six-hitters, and top four-scorers.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48640" y="3776472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4F6FB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8862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7A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31520" y="446227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Bowling Performance Analysis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31520" y="489204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Purple Cap section showcases the top wicket-taker per season.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4297680" y="3776472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4F6FB"/>
          </a:solidFill>
          <a:ln/>
        </p:spPr>
      </p:sp>
      <p:sp>
        <p:nvSpPr>
          <p:cNvPr id="21" name="Text 19"/>
          <p:cNvSpPr/>
          <p:nvPr/>
        </p:nvSpPr>
        <p:spPr>
          <a:xfrm>
            <a:off x="4480560" y="38862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7A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4480560" y="446227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Performance Evaluation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480560" y="489204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Points Table compares standings, consistency, and recent form.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8046720" y="3776472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4F6FB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0" y="38862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7A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8229600" y="446227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Season Comparison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229600" y="489204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filters compare seasons and reveal long-term trends.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7A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0881360" cy="658368"/>
          </a:xfrm>
          <a:prstGeom prst="roundRect">
            <a:avLst>
              <a:gd name="adj" fmla="val 9722"/>
            </a:avLst>
          </a:prstGeom>
          <a:solidFill>
            <a:srgbClr val="0C1E45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112264"/>
            <a:ext cx="365760" cy="365760"/>
          </a:xfrm>
          <a:prstGeom prst="ellipse">
            <a:avLst/>
          </a:prstGeom>
          <a:solidFill>
            <a:srgbClr val="E7A72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03704"/>
            <a:ext cx="182880" cy="182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965960"/>
            <a:ext cx="9875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provides a complete historical analysis of IPL from 2008–2025.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807208"/>
            <a:ext cx="10881360" cy="658368"/>
          </a:xfrm>
          <a:prstGeom prst="roundRect">
            <a:avLst>
              <a:gd name="adj" fmla="val 9722"/>
            </a:avLst>
          </a:prstGeom>
          <a:solidFill>
            <a:srgbClr val="0C1E45"/>
          </a:solidFill>
          <a:ln/>
        </p:spPr>
      </p:sp>
      <p:sp>
        <p:nvSpPr>
          <p:cNvPr id="9" name="Shape 6"/>
          <p:cNvSpPr/>
          <p:nvPr/>
        </p:nvSpPr>
        <p:spPr>
          <a:xfrm>
            <a:off x="731520" y="2953512"/>
            <a:ext cx="365760" cy="365760"/>
          </a:xfrm>
          <a:prstGeom prst="ellipse">
            <a:avLst/>
          </a:prstGeom>
          <a:solidFill>
            <a:srgbClr val="E7A722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044952"/>
            <a:ext cx="182880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2807208"/>
            <a:ext cx="9875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performance and player achievements can be analyzed in one place.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648456"/>
            <a:ext cx="10881360" cy="658368"/>
          </a:xfrm>
          <a:prstGeom prst="roundRect">
            <a:avLst>
              <a:gd name="adj" fmla="val 9722"/>
            </a:avLst>
          </a:prstGeom>
          <a:solidFill>
            <a:srgbClr val="0C1E45"/>
          </a:solidFill>
          <a:ln/>
        </p:spPr>
      </p:sp>
      <p:sp>
        <p:nvSpPr>
          <p:cNvPr id="13" name="Shape 9"/>
          <p:cNvSpPr/>
          <p:nvPr/>
        </p:nvSpPr>
        <p:spPr>
          <a:xfrm>
            <a:off x="731520" y="3794760"/>
            <a:ext cx="365760" cy="365760"/>
          </a:xfrm>
          <a:prstGeom prst="ellipse">
            <a:avLst/>
          </a:prstGeom>
          <a:solidFill>
            <a:srgbClr val="E7A722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886200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3648456"/>
            <a:ext cx="9875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filtering simplifies season-wise comparison.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48640" y="4489704"/>
            <a:ext cx="10881360" cy="658368"/>
          </a:xfrm>
          <a:prstGeom prst="roundRect">
            <a:avLst>
              <a:gd name="adj" fmla="val 9722"/>
            </a:avLst>
          </a:prstGeom>
          <a:solidFill>
            <a:srgbClr val="0C1E45"/>
          </a:solidFill>
          <a:ln/>
        </p:spPr>
      </p:sp>
      <p:sp>
        <p:nvSpPr>
          <p:cNvPr id="17" name="Shape 12"/>
          <p:cNvSpPr/>
          <p:nvPr/>
        </p:nvSpPr>
        <p:spPr>
          <a:xfrm>
            <a:off x="731520" y="4636008"/>
            <a:ext cx="365760" cy="365760"/>
          </a:xfrm>
          <a:prstGeom prst="ellipse">
            <a:avLst/>
          </a:prstGeom>
          <a:solidFill>
            <a:srgbClr val="E7A722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727448"/>
            <a:ext cx="182880" cy="1828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25880" y="4489704"/>
            <a:ext cx="9875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Batting and bowling leaders can be identified instantly.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548640" y="5330952"/>
            <a:ext cx="10881360" cy="658368"/>
          </a:xfrm>
          <a:prstGeom prst="roundRect">
            <a:avLst>
              <a:gd name="adj" fmla="val 9722"/>
            </a:avLst>
          </a:prstGeom>
          <a:solidFill>
            <a:srgbClr val="0C1E45"/>
          </a:solidFill>
          <a:ln/>
        </p:spPr>
      </p:sp>
      <p:sp>
        <p:nvSpPr>
          <p:cNvPr id="21" name="Shape 15"/>
          <p:cNvSpPr/>
          <p:nvPr/>
        </p:nvSpPr>
        <p:spPr>
          <a:xfrm>
            <a:off x="731520" y="5477256"/>
            <a:ext cx="365760" cy="365760"/>
          </a:xfrm>
          <a:prstGeom prst="ellipse">
            <a:avLst/>
          </a:prstGeom>
          <a:solidFill>
            <a:srgbClr val="E7A72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568696"/>
            <a:ext cx="182880" cy="1828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25880" y="5330952"/>
            <a:ext cx="9875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helps users understand tournament trends and team consistency.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F4F6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7A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0881360" cy="2926080"/>
          </a:xfrm>
          <a:prstGeom prst="roundRect">
            <a:avLst>
              <a:gd name="adj" fmla="val 3125"/>
            </a:avLst>
          </a:prstGeom>
          <a:solidFill>
            <a:srgbClr val="132A5E"/>
          </a:solidFill>
          <a:ln/>
          <a:effectLst>
            <a:outerShdw blurRad="152400" dist="38100" dir="5400000" algn="bl" rotWithShape="0">
              <a:srgbClr val="132A5E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423160"/>
            <a:ext cx="640080" cy="640080"/>
          </a:xfrm>
          <a:prstGeom prst="ellipse">
            <a:avLst/>
          </a:prstGeom>
          <a:solidFill>
            <a:srgbClr val="E7A722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57860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423160"/>
            <a:ext cx="9326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Power BI dashboard successfully transforms IPL data into meaningful visual insights. It enables users to analyze team performance, player statistics, and tournament trends through an interactive and user-friendly interface.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2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C1E45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5029200" cy="5029200"/>
          </a:xfrm>
          <a:prstGeom prst="ellipse">
            <a:avLst/>
          </a:prstGeom>
          <a:solidFill>
            <a:srgbClr val="E7A722"/>
          </a:solidFill>
          <a:ln/>
        </p:spPr>
      </p:sp>
      <p:sp>
        <p:nvSpPr>
          <p:cNvPr id="4" name="Shape 2"/>
          <p:cNvSpPr/>
          <p:nvPr/>
        </p:nvSpPr>
        <p:spPr>
          <a:xfrm>
            <a:off x="5592928" y="2331720"/>
            <a:ext cx="1005840" cy="1005840"/>
          </a:xfrm>
          <a:prstGeom prst="ellipse">
            <a:avLst/>
          </a:prstGeom>
          <a:solidFill>
            <a:srgbClr val="E7A72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9816" y="2578608"/>
            <a:ext cx="512064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52044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0" y="43434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7D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IPL Analysis Dashboard Using Power BI  |  Malik Rohit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548</Words>
  <Application>Microsoft Office PowerPoint</Application>
  <PresentationFormat>Widescreen</PresentationFormat>
  <Paragraphs>130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IPL Analysis Dashboard Using Power BI</dc:title>
  <dc:subject>PptxGenJS Presentation</dc:subject>
  <dc:creator>Malik Rohit</dc:creator>
  <cp:lastModifiedBy>Rohit Malik</cp:lastModifiedBy>
  <cp:revision>2</cp:revision>
  <dcterms:created xsi:type="dcterms:W3CDTF">2026-07-09T13:30:05Z</dcterms:created>
  <dcterms:modified xsi:type="dcterms:W3CDTF">2026-07-09T13:35:51Z</dcterms:modified>
</cp:coreProperties>
</file>